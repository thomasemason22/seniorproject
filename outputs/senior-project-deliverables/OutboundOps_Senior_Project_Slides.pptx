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D8BD"/>
                </a:solidFill>
              </a:rPr>
              <a:t>UPS OPERATIONS 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OutboundOps Dashboard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76656" y="19202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 full-stack senior project that converts warehouse volume, scan, staffing, and labor records into supervisor-ready decision support.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2461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3246120"/>
            <a:ext cx="73152" cy="1051560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3,420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86968" y="3867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25A49"/>
                </a:solidFill>
              </a:rPr>
              <a:t>Operational records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246120" y="32461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3246120"/>
            <a:ext cx="73152" cy="1051560"/>
          </a:xfrm>
          <a:prstGeom prst="rect">
            <a:avLst/>
          </a:prstGeom>
          <a:solidFill>
            <a:srgbClr val="3B5F8A"/>
          </a:solidFill>
          <a:ln w="12700">
            <a:solidFill>
              <a:srgbClr val="3B5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17.25M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447288" y="3867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25A49"/>
                </a:solidFill>
              </a:rPr>
              <a:t>Total package volume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806440" y="32461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3246120"/>
            <a:ext cx="73152" cy="1051560"/>
          </a:xfrm>
          <a:prstGeom prst="rect">
            <a:avLst/>
          </a:prstGeom>
          <a:solidFill>
            <a:srgbClr val="177245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7608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88.9%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007608" y="3867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25A49"/>
                </a:solidFill>
              </a:rPr>
              <a:t>Outbound scan rate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732520" y="822960"/>
            <a:ext cx="2423160" cy="4892040"/>
          </a:xfrm>
          <a:prstGeom prst="roundRect">
            <a:avLst>
              <a:gd name="adj" fmla="val 3019"/>
            </a:avLst>
          </a:prstGeom>
          <a:solidFill>
            <a:srgbClr val="24110D"/>
          </a:solidFill>
          <a:ln w="8890">
            <a:solidFill>
              <a:srgbClr val="4F2B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500"/>
                </a:solidFill>
              </a:rPr>
              <a:t>Project Stack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70848" y="1691640"/>
            <a:ext cx="173736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FFFFFF"/>
                </a:solidFill>
              </a:rPr>
              <a:t>Flask API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</a:rPr>
              <a:t>SQLite + SQLAlchemy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</a:rPr>
              <a:t>Pandas KPI layer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</a:rPr>
              <a:t>React dashboard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</a:rPr>
              <a:t>Chart.js panels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" y="6199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D8BD"/>
                </a:solidFill>
              </a:rPr>
              <a:t>FDU Senior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51C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operations records do not tell supervisors where to act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38360" y="384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OutboundOps Dashboard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19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Operational decision gap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41832" y="2240280"/>
            <a:ext cx="434340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2D180F"/>
                </a:solidFill>
              </a:rPr>
              <a:t>Package volume, scans, staffing, paid day, overtime, and PPH live at row level.</a:t>
            </a:r>
            <a:endParaRPr lang="en-US" sz="1400" dirty="0"/>
          </a:p>
          <a:p>
            <a:r>
              <a:rPr lang="en-US" sz="1400" dirty="0">
                <a:solidFill>
                  <a:srgbClr val="2D180F"/>
                </a:solidFill>
              </a:rPr>
              <a:t>Supervisors need shift-level and area-level answers during the operation.</a:t>
            </a:r>
            <a:endParaRPr lang="en-US" sz="1400" dirty="0"/>
          </a:p>
          <a:p>
            <a:r>
              <a:rPr lang="en-US" sz="1400" dirty="0">
                <a:solidFill>
                  <a:srgbClr val="2D180F"/>
                </a:solidFill>
              </a:rPr>
              <a:t>The project turns descriptive logs into active performance, risk, and staffing views.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14173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BF7E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719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Target user workflow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55080" y="2240280"/>
            <a:ext cx="452628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2D180F"/>
                </a:solidFill>
              </a:rPr>
              <a:t>Select a shift, area group, belt, or date range.</a:t>
            </a:r>
            <a:endParaRPr lang="en-US" sz="1400" dirty="0"/>
          </a:p>
          <a:p>
            <a:r>
              <a:rPr lang="en-US" sz="1400" dirty="0">
                <a:solidFill>
                  <a:srgbClr val="2D180F"/>
                </a:solidFill>
              </a:rPr>
              <a:t>Review volume, labor, scan, and capacity KPIs.</a:t>
            </a:r>
            <a:endParaRPr lang="en-US" sz="1400" dirty="0"/>
          </a:p>
          <a:p>
            <a:r>
              <a:rPr lang="en-US" sz="1400" dirty="0">
                <a:solidFill>
                  <a:srgbClr val="2D180F"/>
                </a:solidFill>
              </a:rPr>
              <a:t>Use alerts, rankings, and recommendations to rebalance before the next shift.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25A49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51C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seeded data is large enough to test meaningful operational slicing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38360" y="384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OutboundOps Dashboard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298448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98448"/>
            <a:ext cx="73152" cy="1051560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90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41248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25A49"/>
                </a:solidFill>
              </a:rPr>
              <a:t>Sorts modeled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898648" y="1298448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98648" y="1298448"/>
            <a:ext cx="73152" cy="1051560"/>
          </a:xfrm>
          <a:prstGeom prst="rect">
            <a:avLst/>
          </a:prstGeom>
          <a:solidFill>
            <a:srgbClr val="3B5F8A"/>
          </a:solidFill>
          <a:ln w="12700">
            <a:solidFill>
              <a:srgbClr val="3B5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191,705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99816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25A49"/>
                </a:solidFill>
              </a:rPr>
              <a:t>Average shift volume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157216" y="1298448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57216" y="1298448"/>
            <a:ext cx="73152" cy="105156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284,949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358384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25A49"/>
                </a:solidFill>
              </a:rPr>
              <a:t>Peak shift volume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415784" y="1298448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15784" y="1298448"/>
            <a:ext cx="73152" cy="1051560"/>
          </a:xfrm>
          <a:prstGeom prst="rect">
            <a:avLst/>
          </a:prstGeom>
          <a:solidFill>
            <a:srgbClr val="177245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12.8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616952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25A49"/>
                </a:solidFill>
              </a:rPr>
              <a:t>Average staffing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674352" y="1298448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74352" y="1298448"/>
            <a:ext cx="73152" cy="1051560"/>
          </a:xfrm>
          <a:prstGeom prst="rect">
            <a:avLst/>
          </a:prstGeom>
          <a:solidFill>
            <a:srgbClr val="4F2B1D"/>
          </a:solidFill>
          <a:ln w="12700">
            <a:solidFill>
              <a:srgbClr val="4F2B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2,984.3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875520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25A49"/>
                </a:solidFill>
              </a:rPr>
              <a:t>Total overtime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85800" y="2761488"/>
            <a:ext cx="10789920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1363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D180F"/>
                </a:solidFill>
              </a:rPr>
              <a:t>Outbounds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057400" y="3127248"/>
            <a:ext cx="8092440" cy="164592"/>
          </a:xfrm>
          <a:prstGeom prst="rect">
            <a:avLst/>
          </a:prstGeom>
          <a:solidFill>
            <a:srgbClr val="EAD8BD"/>
          </a:solidFill>
          <a:ln w="12700">
            <a:solidFill>
              <a:srgbClr val="EAD8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3127248"/>
            <a:ext cx="8092440" cy="164592"/>
          </a:xfrm>
          <a:prstGeom prst="rect">
            <a:avLst/>
          </a:prstGeom>
          <a:solidFill>
            <a:srgbClr val="351C15"/>
          </a:solidFill>
          <a:ln w="12700">
            <a:solidFill>
              <a:srgbClr val="351C1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9568" y="3118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25A49"/>
                </a:solidFill>
              </a:rPr>
              <a:t>55.0% | 9,489,535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960120" y="3404997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D180F"/>
                </a:solidFill>
              </a:rPr>
              <a:t>Unload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57400" y="3395853"/>
            <a:ext cx="8092440" cy="164592"/>
          </a:xfrm>
          <a:prstGeom prst="rect">
            <a:avLst/>
          </a:prstGeom>
          <a:solidFill>
            <a:srgbClr val="EAD8BD"/>
          </a:solidFill>
          <a:ln w="12700">
            <a:solidFill>
              <a:srgbClr val="EAD8B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57400" y="3395853"/>
            <a:ext cx="2942689" cy="164592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59568" y="3386709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25A49"/>
                </a:solidFill>
              </a:rPr>
              <a:t>20.0% | 3,450,721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960120" y="367360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D180F"/>
                </a:solidFill>
              </a:rPr>
              <a:t>Sort Aisle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057400" y="3664458"/>
            <a:ext cx="8092440" cy="164592"/>
          </a:xfrm>
          <a:prstGeom prst="rect">
            <a:avLst/>
          </a:prstGeom>
          <a:solidFill>
            <a:srgbClr val="EAD8BD"/>
          </a:solidFill>
          <a:ln w="12700">
            <a:solidFill>
              <a:srgbClr val="EAD8B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57400" y="3664458"/>
            <a:ext cx="1471322" cy="164592"/>
          </a:xfrm>
          <a:prstGeom prst="rect">
            <a:avLst/>
          </a:prstGeom>
          <a:solidFill>
            <a:srgbClr val="3B5F8A"/>
          </a:solidFill>
          <a:ln w="12700">
            <a:solidFill>
              <a:srgbClr val="3B5F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59568" y="365531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25A49"/>
                </a:solidFill>
              </a:rPr>
              <a:t>10.0% | 1,725,334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960120" y="3942207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D180F"/>
                </a:solidFill>
              </a:rPr>
              <a:t>Airsort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57400" y="3933063"/>
            <a:ext cx="8092440" cy="164592"/>
          </a:xfrm>
          <a:prstGeom prst="rect">
            <a:avLst/>
          </a:prstGeom>
          <a:solidFill>
            <a:srgbClr val="EAD8BD"/>
          </a:solidFill>
          <a:ln w="12700">
            <a:solidFill>
              <a:srgbClr val="EAD8B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57400" y="3933063"/>
            <a:ext cx="588510" cy="164592"/>
          </a:xfrm>
          <a:prstGeom prst="rect">
            <a:avLst/>
          </a:prstGeom>
          <a:solidFill>
            <a:srgbClr val="177245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59568" y="3923919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25A49"/>
                </a:solidFill>
              </a:rPr>
              <a:t>4.0% | 690,111</a:t>
            </a:r>
            <a:endParaRPr lang="en-US" sz="730" dirty="0"/>
          </a:p>
        </p:txBody>
      </p:sp>
      <p:sp>
        <p:nvSpPr>
          <p:cNvPr id="43" name="Text 41"/>
          <p:cNvSpPr/>
          <p:nvPr/>
        </p:nvSpPr>
        <p:spPr>
          <a:xfrm>
            <a:off x="960120" y="42108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D180F"/>
                </a:solidFill>
              </a:rPr>
              <a:t>Small Sort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057400" y="4201668"/>
            <a:ext cx="8092440" cy="164592"/>
          </a:xfrm>
          <a:prstGeom prst="rect">
            <a:avLst/>
          </a:prstGeom>
          <a:solidFill>
            <a:srgbClr val="EAD8BD"/>
          </a:solidFill>
          <a:ln w="12700">
            <a:solidFill>
              <a:srgbClr val="EAD8B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57400" y="4201668"/>
            <a:ext cx="588510" cy="16459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59568" y="41925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25A49"/>
                </a:solidFill>
              </a:rPr>
              <a:t>4.0% | 690,111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960120" y="4479417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D180F"/>
                </a:solidFill>
              </a:rPr>
              <a:t>Metro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057400" y="4470273"/>
            <a:ext cx="8092440" cy="164592"/>
          </a:xfrm>
          <a:prstGeom prst="rect">
            <a:avLst/>
          </a:prstGeom>
          <a:solidFill>
            <a:srgbClr val="EAD8BD"/>
          </a:solidFill>
          <a:ln w="12700">
            <a:solidFill>
              <a:srgbClr val="EAD8B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57400" y="4470273"/>
            <a:ext cx="588510" cy="164592"/>
          </a:xfrm>
          <a:prstGeom prst="rect">
            <a:avLst/>
          </a:prstGeom>
          <a:solidFill>
            <a:srgbClr val="7A5A00"/>
          </a:solidFill>
          <a:ln w="12700">
            <a:solidFill>
              <a:srgbClr val="7A5A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59568" y="4461129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25A49"/>
                </a:solidFill>
              </a:rPr>
              <a:t>4.0% | 690,111</a:t>
            </a:r>
            <a:endParaRPr lang="en-US" sz="730" dirty="0"/>
          </a:p>
        </p:txBody>
      </p:sp>
      <p:sp>
        <p:nvSpPr>
          <p:cNvPr id="51" name="Text 49"/>
          <p:cNvSpPr/>
          <p:nvPr/>
        </p:nvSpPr>
        <p:spPr>
          <a:xfrm>
            <a:off x="960120" y="474802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D180F"/>
                </a:solidFill>
              </a:rPr>
              <a:t>Irregulars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057400" y="4738878"/>
            <a:ext cx="8092440" cy="164592"/>
          </a:xfrm>
          <a:prstGeom prst="rect">
            <a:avLst/>
          </a:prstGeom>
          <a:solidFill>
            <a:srgbClr val="EAD8BD"/>
          </a:solidFill>
          <a:ln w="12700">
            <a:solidFill>
              <a:srgbClr val="EAD8B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57400" y="4738878"/>
            <a:ext cx="294238" cy="164592"/>
          </a:xfrm>
          <a:prstGeom prst="rect">
            <a:avLst/>
          </a:prstGeom>
          <a:solidFill>
            <a:srgbClr val="725A49"/>
          </a:solidFill>
          <a:ln w="12700">
            <a:solidFill>
              <a:srgbClr val="725A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59568" y="472973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25A49"/>
                </a:solidFill>
              </a:rPr>
              <a:t>2.0% | 345,036</a:t>
            </a:r>
            <a:endParaRPr lang="en-US" sz="730" dirty="0"/>
          </a:p>
        </p:txBody>
      </p:sp>
      <p:sp>
        <p:nvSpPr>
          <p:cNvPr id="55" name="Text 53"/>
          <p:cNvSpPr/>
          <p:nvPr/>
        </p:nvSpPr>
        <p:spPr>
          <a:xfrm>
            <a:off x="960120" y="5016627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D180F"/>
                </a:solidFill>
              </a:rPr>
              <a:t>Indirect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057400" y="5007483"/>
            <a:ext cx="8092440" cy="164592"/>
          </a:xfrm>
          <a:prstGeom prst="rect">
            <a:avLst/>
          </a:prstGeom>
          <a:solidFill>
            <a:srgbClr val="EAD8BD"/>
          </a:solidFill>
          <a:ln w="12700">
            <a:solidFill>
              <a:srgbClr val="EAD8B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57400" y="5007483"/>
            <a:ext cx="147102" cy="164592"/>
          </a:xfrm>
          <a:prstGeom prst="rect">
            <a:avLst/>
          </a:prstGeom>
          <a:solidFill>
            <a:srgbClr val="A36A2C"/>
          </a:solidFill>
          <a:ln w="12700">
            <a:solidFill>
              <a:srgbClr val="A36A2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59568" y="4998339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25A49"/>
                </a:solidFill>
              </a:rPr>
              <a:t>1.0% | 172,498</a:t>
            </a:r>
            <a:endParaRPr lang="en-US" sz="730" dirty="0"/>
          </a:p>
        </p:txBody>
      </p:sp>
      <p:sp>
        <p:nvSpPr>
          <p:cNvPr id="59" name="Text 57"/>
          <p:cNvSpPr/>
          <p:nvPr/>
        </p:nvSpPr>
        <p:spPr>
          <a:xfrm>
            <a:off x="960120" y="55138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725A49"/>
                </a:solidFill>
              </a:rPr>
              <a:t>Dataset window: 2026-02-28 to 2026-03-29</a:t>
            </a:r>
            <a:endParaRPr lang="en-US" sz="870" dirty="0"/>
          </a:p>
        </p:txBody>
      </p:sp>
      <p:sp>
        <p:nvSpPr>
          <p:cNvPr id="60" name="Text 58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25A49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51C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conventional full stack keeps the project explainable and demo-ready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38360" y="384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OutboundOps Dashboard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2148840" cy="2971800"/>
          </a:xfrm>
          <a:prstGeom prst="roundRect">
            <a:avLst>
              <a:gd name="adj" fmla="val 3404"/>
            </a:avLst>
          </a:prstGeom>
          <a:solidFill>
            <a:srgbClr val="FBF7E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51C15"/>
                </a:solidFill>
              </a:rPr>
              <a:t>Seed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2487168"/>
            <a:ext cx="16642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25A49"/>
                </a:solidFill>
              </a:rPr>
              <a:t>30 days x 3 shifts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25A49"/>
                </a:solidFill>
              </a:rPr>
              <a:t>UL, PD, SRT, Metro,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25A49"/>
                </a:solidFill>
              </a:rPr>
              <a:t>and support areas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26080" y="2852928"/>
            <a:ext cx="502920" cy="292608"/>
          </a:xfrm>
          <a:prstGeom prst="rightArrow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8728" y="1627632"/>
            <a:ext cx="2148840" cy="2971800"/>
          </a:xfrm>
          <a:prstGeom prst="roundRect">
            <a:avLst>
              <a:gd name="adj" fmla="val 3404"/>
            </a:avLst>
          </a:prstGeom>
          <a:solidFill>
            <a:srgbClr val="FFF7D6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9896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51C15"/>
                </a:solidFill>
              </a:rPr>
              <a:t>Flask 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39896" y="2487168"/>
            <a:ext cx="16642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25A49"/>
                </a:solidFill>
              </a:rPr>
              <a:t>operations endpoint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25A49"/>
                </a:solidFill>
              </a:rPr>
              <a:t>bulk create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25A49"/>
                </a:solidFill>
              </a:rPr>
              <a:t>KPI endpoint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06440" y="2852928"/>
            <a:ext cx="502920" cy="292608"/>
          </a:xfrm>
          <a:prstGeom prst="rightArrow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1627632"/>
            <a:ext cx="2148840" cy="2971800"/>
          </a:xfrm>
          <a:prstGeom prst="roundRect">
            <a:avLst>
              <a:gd name="adj" fmla="val 3404"/>
            </a:avLst>
          </a:prstGeom>
          <a:solidFill>
            <a:srgbClr val="EEF5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51C15"/>
                </a:solidFill>
              </a:rPr>
              <a:t>Analytics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0256" y="2487168"/>
            <a:ext cx="16642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25A49"/>
                </a:solidFill>
              </a:rPr>
              <a:t>volume, scans, PPH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25A49"/>
                </a:solidFill>
              </a:rPr>
              <a:t>paid day, risk inputs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25A49"/>
                </a:solidFill>
              </a:rPr>
              <a:t>planned hours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0" y="2852928"/>
            <a:ext cx="502920" cy="292608"/>
          </a:xfrm>
          <a:prstGeom prst="rightArrow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99448" y="1627632"/>
            <a:ext cx="2148840" cy="2971800"/>
          </a:xfrm>
          <a:prstGeom prst="roundRect">
            <a:avLst>
              <a:gd name="adj" fmla="val 3404"/>
            </a:avLst>
          </a:prstGeom>
          <a:solidFill>
            <a:srgbClr val="EFFAF3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0616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51C15"/>
                </a:solidFill>
              </a:rPr>
              <a:t>React UI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00616" y="2487168"/>
            <a:ext cx="16642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25A49"/>
                </a:solidFill>
              </a:rPr>
              <a:t>filters, charts,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25A49"/>
                </a:solidFill>
              </a:rPr>
              <a:t>alerts, export,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25A49"/>
                </a:solidFill>
              </a:rPr>
              <a:t>print report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5413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1C15"/>
                </a:solidFill>
              </a:rPr>
              <a:t>Design principle: keep every transformation traceable from raw record to visible KPI.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25A49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51C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operation row captures both package flow and labor context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38360" y="384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OutboundOps Dashboard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5120640" cy="443484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351C1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351C1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Sort identity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date, shift, area group, outbound area, belt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Volume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 volume, gross volume, scanned volume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staffing level, hours, paid day, overtime hours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throughput, actual PPH, planned PPH, planned hours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Annotation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417320"/>
            <a:ext cx="4434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Why this matters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748272" y="2331720"/>
            <a:ext cx="347472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2D180F"/>
                </a:solidFill>
              </a:rPr>
              <a:t>The same record supports flow, staffing, and efficiency analysis.</a:t>
            </a:r>
            <a:endParaRPr lang="en-US" sz="1400" dirty="0"/>
          </a:p>
          <a:p>
            <a:r>
              <a:rPr lang="en-US" sz="1400" dirty="0">
                <a:solidFill>
                  <a:srgbClr val="2D180F"/>
                </a:solidFill>
              </a:rPr>
              <a:t>Outbounds can compare gross volume to scanned volume by PD belt.</a:t>
            </a:r>
            <a:endParaRPr lang="en-US" sz="1400" dirty="0"/>
          </a:p>
          <a:p>
            <a:r>
              <a:rPr lang="en-US" sz="1400" dirty="0">
                <a:solidFill>
                  <a:srgbClr val="2D180F"/>
                </a:solidFill>
              </a:rPr>
              <a:t>Paid day and overtime make labor pressure visible, not just package pressure.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25A49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51C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interface is organized around supervisor questions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38360" y="384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OutboundOps Dashboard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18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351C15"/>
                </a:solidFill>
              </a:rPr>
              <a:t>Overview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725A49"/>
                </a:solidFill>
              </a:rPr>
              <a:t>KPI cards and global status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618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351C15"/>
                </a:solidFill>
              </a:rPr>
              <a:t>Shift Detail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36008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725A49"/>
                </a:solidFill>
              </a:rPr>
              <a:t>sort summary and plan vs. actual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618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351C15"/>
                </a:solidFill>
              </a:rPr>
              <a:t>Trends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339328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725A49"/>
                </a:solidFill>
              </a:rPr>
              <a:t>volume, staffing, flow, capacity, PPH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BF7E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5844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351C15"/>
                </a:solidFill>
              </a:rPr>
              <a:t>Outbounds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32688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725A49"/>
                </a:solidFill>
              </a:rPr>
              <a:t>PD heatmap, load rate, belt ranking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4434840" y="338328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BF7E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35844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351C15"/>
                </a:solidFill>
              </a:rPr>
              <a:t>Risk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636008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725A49"/>
                </a:solidFill>
              </a:rPr>
              <a:t>operational pressure and recommended actions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8138160" y="338328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BF7E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35844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351C15"/>
                </a:solidFill>
              </a:rPr>
              <a:t>Records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339328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725A49"/>
                </a:solidFill>
              </a:rPr>
              <a:t>filterable table plus CSV export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914400" y="5742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1C15"/>
                </a:solidFill>
              </a:rPr>
              <a:t>Core interaction: every filter recomputes visible summaries, charts, rankings, and risk panels.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25A49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51C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uses transparent data mining signals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38360" y="384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OutboundOps Dashboard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536192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922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51C15"/>
                </a:solidFill>
              </a:rPr>
              <a:t>Aggregation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2677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25A49"/>
                </a:solidFill>
              </a:rPr>
              <a:t>Totals and averages by shift, area group, belt, and date range.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536192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BF7E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922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51C15"/>
                </a:solidFill>
              </a:rPr>
              <a:t>Benchmarking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2677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25A49"/>
                </a:solidFill>
              </a:rPr>
              <a:t>Planned hours, paid day, throughput, and PPH comparisons.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593592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49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51C15"/>
                </a:solidFill>
              </a:rPr>
              <a:t>Risk scoring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325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25A49"/>
                </a:solidFill>
              </a:rPr>
              <a:t>High-overtime exposure plus throughput pressure.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3593592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BF7E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849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51C15"/>
                </a:solidFill>
              </a:rPr>
              <a:t>Decision support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4325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25A49"/>
                </a:solidFill>
              </a:rPr>
              <a:t>Recommendations for flex coverage, staffing floors, and standup focus.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25A49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51C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dashboard reflects operational reality in the seeded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38360" y="384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OutboundOps Dashboard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5623560" cy="4480560"/>
        </p:xfrm>
        <a:graphic>
          <a:graphicData uri="http://schemas.openxmlformats.org/drawingml/2006/table">
            <a:tbl>
              <a:tblPr/>
              <a:tblGrid>
                <a:gridCol w="1405890"/>
                <a:gridCol w="1405890"/>
                <a:gridCol w="1405890"/>
                <a:gridCol w="140589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351C1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351C1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351C1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PPH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351C1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Overtime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Outbounds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55.0%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80.9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1,293.9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Unload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20.0%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34.6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599.5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Sort Aisle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10.0%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32.7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509.0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Airsort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4.0%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92.5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67.4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Small Sort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4.0%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72.8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77.1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Metro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4.0%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33.4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D180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286.6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720840" y="141732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0" y="173736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Readout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059168" y="2331720"/>
            <a:ext cx="324612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2D180F"/>
                </a:solidFill>
              </a:rPr>
              <a:t>Outbounds represents 55.0% of gross volume.</a:t>
            </a:r>
            <a:endParaRPr lang="en-US" sz="1400" dirty="0"/>
          </a:p>
          <a:p>
            <a:r>
              <a:rPr lang="en-US" sz="1400" dirty="0">
                <a:solidFill>
                  <a:srgbClr val="2D180F"/>
                </a:solidFill>
              </a:rPr>
              <a:t>The scan-rate signal reaches 88.9%, creating an outbound quality KPI.</a:t>
            </a:r>
            <a:endParaRPr lang="en-US" sz="1400" dirty="0"/>
          </a:p>
          <a:p>
            <a:r>
              <a:rPr lang="en-US" sz="1400" dirty="0">
                <a:solidFill>
                  <a:srgbClr val="2D180F"/>
                </a:solidFill>
              </a:rPr>
              <a:t>Peak shift volume is 284,949, which justifies capacity and staffing views.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25A49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51C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prototype is strong enough for demonstration, with clear production 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38360" y="384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OutboundOps Dashboard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Current limits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60704" y="2331720"/>
            <a:ext cx="38862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2D180F"/>
                </a:solidFill>
              </a:rPr>
              <a:t>Synthetic dataset, not live operational telemetry.</a:t>
            </a:r>
            <a:endParaRPr lang="en-US" sz="1400" dirty="0"/>
          </a:p>
          <a:p>
            <a:r>
              <a:rPr lang="en-US" sz="1400" dirty="0">
                <a:solidFill>
                  <a:srgbClr val="2D180F"/>
                </a:solidFill>
              </a:rPr>
              <a:t>Role control is represented in the UI, not secured end to end.</a:t>
            </a:r>
            <a:endParaRPr lang="en-US" sz="1400" dirty="0"/>
          </a:p>
          <a:p>
            <a:r>
              <a:rPr lang="en-US" sz="1400" dirty="0">
                <a:solidFill>
                  <a:srgbClr val="2D180F"/>
                </a:solidFill>
              </a:rPr>
              <a:t>SQLite and client-side rollups should be upgraded for production-scale usage.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BF7E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Future work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01384" y="2331720"/>
            <a:ext cx="38862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2D180F"/>
                </a:solidFill>
              </a:rPr>
              <a:t>Connect scheduled CSV or real system feeds.</a:t>
            </a:r>
            <a:endParaRPr lang="en-US" sz="1400" dirty="0"/>
          </a:p>
          <a:p>
            <a:r>
              <a:rPr lang="en-US" sz="1400" dirty="0">
                <a:solidFill>
                  <a:srgbClr val="2D180F"/>
                </a:solidFill>
              </a:rPr>
              <a:t>Add authenticated users and API-backed permissions.</a:t>
            </a:r>
            <a:endParaRPr lang="en-US" sz="1400" dirty="0"/>
          </a:p>
          <a:p>
            <a:r>
              <a:rPr lang="en-US" sz="1400" dirty="0">
                <a:solidFill>
                  <a:srgbClr val="2D180F"/>
                </a:solidFill>
              </a:rPr>
              <a:t>Train forecasting models for volume, staffing need, and scan-rate risk.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25A49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51C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OutboundOps turns data mining into an operational control center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38360" y="384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5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OutboundOps Dashboard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1C15"/>
                </a:solidFill>
              </a:rPr>
              <a:t>Final takeaway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D180F"/>
                </a:solidFill>
              </a:rPr>
              <a:t>The project demonstrates full-stack development, data modeling, KPI engineering, interactive analytics, and decision support in one coherent warehouse operations application.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65760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886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1C15"/>
                </a:solidFill>
              </a:rPr>
              <a:t>Built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43159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25A49"/>
                </a:solidFill>
              </a:rPr>
              <a:t>Flask API, SQLite model, React dashboard, reusable analytics components.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069080" y="365760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3886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1C15"/>
                </a:solidFill>
              </a:rPr>
              <a:t>Analyzed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43400" y="43159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25A49"/>
                </a:solidFill>
              </a:rPr>
              <a:t>17,253,457 packages and 3,420 operation records.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360920" y="365760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E4D5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3886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1C15"/>
                </a:solidFill>
              </a:rPr>
              <a:t>Supported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35240" y="43159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25A49"/>
                </a:solidFill>
              </a:rPr>
              <a:t>Supervisor workflows for staffing, flow, scanning, alerts, export, and daily reporting.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25A49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FDU Senior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OutboundOps Dashboard</dc:title>
  <dc:subject>Senior project presentation</dc:subject>
  <dc:creator>OutboundOps Dashboard</dc:creator>
  <cp:lastModifiedBy>OutboundOps Dashboard</cp:lastModifiedBy>
  <cp:revision>1</cp:revision>
  <dcterms:created xsi:type="dcterms:W3CDTF">2026-05-10T02:08:33Z</dcterms:created>
  <dcterms:modified xsi:type="dcterms:W3CDTF">2026-05-10T02:08:33Z</dcterms:modified>
</cp:coreProperties>
</file>